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sldIdLst>
    <p:sldId id="256" r:id="rId2"/>
    <p:sldId id="266" r:id="rId3"/>
    <p:sldId id="285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28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8.sv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anchor="b">
            <a:noAutofit/>
          </a:bodyPr>
          <a:lstStyle>
            <a:lvl1pPr algn="l">
              <a:defRPr sz="2700" cap="all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00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anchor="b">
            <a:normAutofit/>
          </a:bodyPr>
          <a:lstStyle>
            <a:lvl1pPr>
              <a:defRPr sz="2100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20000"/>
              </a:lnSpc>
              <a:spcBef>
                <a:spcPts val="750"/>
              </a:spcBef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 indent="0">
              <a:lnSpc>
                <a:spcPct val="120000"/>
              </a:lnSpc>
              <a:spcBef>
                <a:spcPts val="750"/>
              </a:spcBef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28700" indent="0">
              <a:lnSpc>
                <a:spcPct val="120000"/>
              </a:lnSpc>
              <a:spcBef>
                <a:spcPts val="750"/>
              </a:spcBef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71600" indent="0">
              <a:lnSpc>
                <a:spcPct val="120000"/>
              </a:lnSpc>
              <a:spcBef>
                <a:spcPts val="750"/>
              </a:spcBef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1709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xmlns="" id="{9D2AF524-D4B4-4A3A-9CE4-EDAFE1D5A3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>
            <a:normAutofit/>
          </a:bodyPr>
          <a:lstStyle>
            <a:lvl1pPr>
              <a:defRPr lang="en-US" sz="21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cap="all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xmlns="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cap="all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xmlns="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cap="all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xmlns="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200" cap="all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xmlns="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xmlns="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82564"/>
            <a:ext cx="4154321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xmlns="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xmlns="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D3795F91-C721-4363-956D-756673AE79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8AC14461-E27D-413D-B31A-47B74646AF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4D6AEA4C-7710-4829-BA87-8DD77F1593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E9BD473E-6203-491C-87AC-54AC0AB233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16867" y="6356351"/>
            <a:ext cx="1356534" cy="365125"/>
          </a:xfrm>
        </p:spPr>
        <p:txBody>
          <a:bodyPr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270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>
            <a:normAutofit/>
          </a:bodyPr>
          <a:lstStyle>
            <a:lvl1pPr algn="ctr"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xmlns="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xmlns="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xmlns="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xmlns="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xmlns="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xmlns="" id="{9298DCF7-7DC1-4618-8133-F63847B0AF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6516291" y="1"/>
            <a:ext cx="2627709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653A6567-233D-4A3B-B52B-DE7E5E35A1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7290708" y="0"/>
            <a:ext cx="1853293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64D564EB-CA78-42C6-AD76-3C4E7B3AEA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1CFFBB3A-BDCF-4878-8D04-E8BB9A050E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72785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anchor="b">
            <a:normAutofit/>
          </a:bodyPr>
          <a:lstStyle>
            <a:lvl1pPr algn="l"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xmlns="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xmlns="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xmlns="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xmlns="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xmlns="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xmlns="" id="{6D8D9106-8780-461D-9091-E074B0A3C9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732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anchor="b">
            <a:normAutofit/>
          </a:bodyPr>
          <a:lstStyle>
            <a:lvl1pPr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xmlns="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xmlns="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9650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anchor="ctr">
            <a:noAutofit/>
          </a:bodyPr>
          <a:lstStyle>
            <a:lvl1pPr algn="l">
              <a:defRPr sz="2700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4271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anchor="t">
            <a:normAutofit/>
          </a:bodyPr>
          <a:lstStyle>
            <a:lvl1pPr>
              <a:defRPr lang="en-US" sz="21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xmlns="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xmlns="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xmlns="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xmlns="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xmlns="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xmlns="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xmlns="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005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>
            <a:normAutofit/>
          </a:bodyPr>
          <a:lstStyle>
            <a:lvl1pPr algn="ctr">
              <a:defRPr lang="en-US" sz="21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cap="all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cap="all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cap="all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27185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>
            <a:normAutofit/>
          </a:bodyPr>
          <a:lstStyle>
            <a:lvl1pPr algn="ctr">
              <a:defRPr lang="en-US" sz="21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3000" kern="1200" cap="all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3000" kern="1200" cap="all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3000" kern="1200" cap="all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500" cap="all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cap="all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500" cap="all" spc="38" baseline="0">
                <a:solidFill>
                  <a:schemeClr val="bg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500" cap="all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B38B0D13-BD5F-460B-B337-F4A934202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xmlns="" id="{BE72876B-D3DA-4462-9E24-3354D8D02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xmlns="" id="{14A539B6-6E3F-41BA-ACE2-76E8BB651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xmlns="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cap="none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xmlns="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cap="none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lnSpc>
                <a:spcPct val="100000"/>
              </a:lnSpc>
              <a:buNone/>
              <a:defRPr sz="1050" cap="none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cap="none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579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>
            <a:normAutofit/>
          </a:bodyPr>
          <a:lstStyle>
            <a:lvl1pPr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150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6858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287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7160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9065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xmlns="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>
            <a:lvl1pPr algn="l">
              <a:defRPr lang="en-US" sz="21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31888" y="1599948"/>
            <a:ext cx="1280224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xmlns="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04050" y="2378453"/>
            <a:ext cx="887384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88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xmlns="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41702" y="2169264"/>
            <a:ext cx="1280224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xmlns="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1421" y="3528830"/>
            <a:ext cx="1045397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xmlns="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55337" y="3528830"/>
            <a:ext cx="103551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xmlns="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78311" y="4634332"/>
            <a:ext cx="887384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88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xmlns="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31419" y="4459861"/>
            <a:ext cx="887384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88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xmlns="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536" y="4321789"/>
            <a:ext cx="887384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88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xmlns="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31888" y="5468791"/>
            <a:ext cx="1280224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xmlns="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51393" y="5195674"/>
            <a:ext cx="887384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88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DD194B4E-75F4-47BE-B171-9C64697AB9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736818" y="3774842"/>
            <a:ext cx="5718519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FEFDA35F-76DF-4FDC-90C9-F9FEDF322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V="1">
            <a:off x="4572000" y="2091972"/>
            <a:ext cx="3509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xmlns="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xmlns="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xmlns="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6375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xmlns="" id="{AE202E03-5C65-4305-B969-65220AD410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xmlns="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anchor="t">
            <a:normAutofit/>
          </a:bodyPr>
          <a:lstStyle>
            <a:lvl1pPr>
              <a:defRPr lang="en-US" sz="21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xmlns="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xmlns="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xmlns="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xmlns="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>
            <a:normAutofit/>
          </a:bodyPr>
          <a:lstStyle>
            <a:lvl1pPr marL="0" indent="0">
              <a:buNone/>
              <a:defRPr lang="en-US" sz="15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xmlns="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xmlns="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xmlns="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xmlns="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4293528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>
            <a:no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xmlns="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>
            <a:noAutofit/>
          </a:bodyPr>
          <a:lstStyle>
            <a:lvl1pPr marL="0" indent="0">
              <a:buNone/>
              <a:defRPr sz="1050" cap="all" spc="113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825"/>
            </a:lvl4pPr>
            <a:lvl5pPr marL="1371600" indent="0">
              <a:buNone/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685800" indent="0">
              <a:buNone/>
              <a:defRPr sz="788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28700" indent="0">
              <a:buNone/>
              <a:defRPr sz="75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371600" indent="0">
              <a:buNone/>
              <a:defRPr sz="75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10335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D46070C-E825-43D0-99F4-8B4614131131}"/>
              </a:ext>
            </a:extLst>
          </p:cNvPr>
          <p:cNvSpPr/>
          <p:nvPr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xmlns="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anchor="ctr"/>
          <a:lstStyle>
            <a:lvl1pPr marL="0" indent="0" algn="l"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xmlns="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xmlns="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xmlns="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xmlns="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anchor="ctr"/>
          <a:lstStyle>
            <a:lvl1pPr marL="0" indent="0" algn="l">
              <a:buNone/>
              <a:defRPr sz="105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xmlns="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xmlns="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xmlns="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xmlns="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xmlns="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xmlns="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xmlns="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xmlns="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xmlns="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xmlns="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xmlns="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xmlns="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xmlns="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xmlns="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xmlns="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xmlns="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xmlns="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xmlns="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xmlns="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>
            <a:noAutofit/>
          </a:bodyPr>
          <a:lstStyle>
            <a:lvl1pPr marL="0" indent="0" algn="ctr">
              <a:buNone/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FFA35437-CCDE-4D92-B879-F23B329C8EC3}"/>
              </a:ext>
            </a:extLst>
          </p:cNvPr>
          <p:cNvSpPr/>
          <p:nvPr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xmlns="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xmlns="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xmlns="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39494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50" y="2136775"/>
            <a:ext cx="78866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409013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>
            <a:normAutofit/>
          </a:bodyPr>
          <a:lstStyle>
            <a:lvl1pPr algn="ctr"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xmlns="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xmlns="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 algn="l">
              <a:lnSpc>
                <a:spcPct val="100000"/>
              </a:lnSpc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xmlns="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07437" y="5084525"/>
            <a:ext cx="15928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69736" y="5099207"/>
            <a:ext cx="1601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37734" y="5099207"/>
            <a:ext cx="15928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52644" y="5084525"/>
            <a:ext cx="15928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xmlns="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4E4B72DA-52CB-4D39-A342-8857B4D959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21D9BCDA-DFB7-41A4-A7C7-CEE86CEDCB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60244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>
            <a:normAutofit/>
          </a:bodyPr>
          <a:lstStyle>
            <a:lvl1pPr algn="ctr">
              <a:defRPr lang="en-US" sz="2100" kern="1200" spc="113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xmlns="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xmlns="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xmlns="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xmlns="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xmlns="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xmlns="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xmlns="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xmlns="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75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xmlns="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xmlns="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xmlns="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xmlns="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xmlns="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xmlns="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xmlns="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788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xmlns="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675" kern="1200" spc="113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>
                <a:solidFill>
                  <a:srgbClr val="898989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xmlns="" id="{B0DFD584-E5CF-41EF-B51E-679CE22DDF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xmlns="" id="{E5C02DDF-25A6-42C7-9525-F279CE2095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66761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>
            <a:normAutofit/>
          </a:bodyPr>
          <a:lstStyle>
            <a:lvl1pPr algn="ctr">
              <a:defRPr lang="en-US" sz="21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370670"/>
            <a:ext cx="1392174" cy="1664208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825"/>
            </a:lvl3pPr>
            <a:lvl4pPr marL="1028700" indent="0">
              <a:buNone/>
              <a:defRPr sz="788"/>
            </a:lvl4pPr>
            <a:lvl5pPr marL="1371600" indent="0">
              <a:buNone/>
              <a:defRPr sz="788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240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/>
            </a:lvl2pPr>
            <a:lvl3pPr marL="685800" indent="0">
              <a:lnSpc>
                <a:spcPct val="100000"/>
              </a:lnSpc>
              <a:buNone/>
              <a:defRPr sz="1050" spc="38" baseline="0"/>
            </a:lvl3pPr>
            <a:lvl4pPr marL="1028700" indent="0">
              <a:lnSpc>
                <a:spcPct val="100000"/>
              </a:lnSpc>
              <a:buNone/>
              <a:defRPr sz="1050" spc="38" baseline="0"/>
            </a:lvl4pPr>
            <a:lvl5pPr marL="1371600" indent="0">
              <a:lnSpc>
                <a:spcPct val="100000"/>
              </a:lnSpc>
              <a:buNone/>
              <a:defRPr sz="1050" spc="38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xmlns="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4238" y="2370670"/>
            <a:ext cx="1392174" cy="1664208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825"/>
            </a:lvl3pPr>
            <a:lvl4pPr marL="1028700" indent="0">
              <a:buNone/>
              <a:defRPr sz="788"/>
            </a:lvl4pPr>
            <a:lvl5pPr marL="1371600" indent="0">
              <a:buNone/>
              <a:defRPr sz="788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240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/>
            </a:lvl2pPr>
            <a:lvl3pPr marL="685800" indent="0">
              <a:lnSpc>
                <a:spcPct val="100000"/>
              </a:lnSpc>
              <a:buNone/>
              <a:defRPr sz="1050" spc="38" baseline="0"/>
            </a:lvl3pPr>
            <a:lvl4pPr marL="1028700" indent="0">
              <a:lnSpc>
                <a:spcPct val="100000"/>
              </a:lnSpc>
              <a:buNone/>
              <a:defRPr sz="1050" spc="38" baseline="0"/>
            </a:lvl4pPr>
            <a:lvl5pPr marL="1371600" indent="0">
              <a:lnSpc>
                <a:spcPct val="100000"/>
              </a:lnSpc>
              <a:buNone/>
              <a:defRPr sz="1050" spc="38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xmlns="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7588" y="2370670"/>
            <a:ext cx="1392174" cy="1664208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825"/>
            </a:lvl3pPr>
            <a:lvl4pPr marL="1028700" indent="0">
              <a:buNone/>
              <a:defRPr sz="788"/>
            </a:lvl4pPr>
            <a:lvl5pPr marL="1371600" indent="0">
              <a:buNone/>
              <a:defRPr sz="788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240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/>
            </a:lvl2pPr>
            <a:lvl3pPr marL="685800" indent="0">
              <a:lnSpc>
                <a:spcPct val="100000"/>
              </a:lnSpc>
              <a:buNone/>
              <a:defRPr sz="1050" spc="38" baseline="0"/>
            </a:lvl3pPr>
            <a:lvl4pPr marL="1028700" indent="0">
              <a:lnSpc>
                <a:spcPct val="100000"/>
              </a:lnSpc>
              <a:buNone/>
              <a:defRPr sz="1050" spc="38" baseline="0"/>
            </a:lvl4pPr>
            <a:lvl5pPr marL="1371600" indent="0">
              <a:lnSpc>
                <a:spcPct val="100000"/>
              </a:lnSpc>
              <a:buNone/>
              <a:defRPr sz="1050" spc="38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xmlns="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370670"/>
            <a:ext cx="1392174" cy="1664208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825"/>
            </a:lvl3pPr>
            <a:lvl4pPr marL="1028700" indent="0">
              <a:buNone/>
              <a:defRPr sz="788"/>
            </a:lvl4pPr>
            <a:lvl5pPr marL="1371600" indent="0">
              <a:buNone/>
              <a:defRPr sz="788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240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050" kern="1200" spc="113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xmlns="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lnSpc>
                <a:spcPct val="100000"/>
              </a:lnSpc>
              <a:buNone/>
              <a:defRPr sz="1050" spc="38" baseline="0"/>
            </a:lvl2pPr>
            <a:lvl3pPr marL="685800" indent="0">
              <a:lnSpc>
                <a:spcPct val="100000"/>
              </a:lnSpc>
              <a:buNone/>
              <a:defRPr sz="1050" spc="38" baseline="0"/>
            </a:lvl3pPr>
            <a:lvl4pPr marL="1028700" indent="0">
              <a:lnSpc>
                <a:spcPct val="100000"/>
              </a:lnSpc>
              <a:buNone/>
              <a:defRPr sz="1050" spc="38" baseline="0"/>
            </a:lvl4pPr>
            <a:lvl5pPr marL="1371600" indent="0">
              <a:lnSpc>
                <a:spcPct val="100000"/>
              </a:lnSpc>
              <a:buNone/>
              <a:defRPr sz="1050" spc="38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3267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anchor="b">
            <a:normAutofit/>
          </a:bodyPr>
          <a:lstStyle>
            <a:lvl1pPr>
              <a:defRPr lang="en-US" sz="21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xmlns="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xmlns="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xmlns="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107095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anchor="b">
            <a:noAutofit/>
          </a:bodyPr>
          <a:lstStyle>
            <a:lvl1pPr algn="l">
              <a:defRPr sz="2400" spc="11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050" spc="38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xmlns="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/>
          <a:lstStyle>
            <a:lvl1pPr>
              <a:defRPr sz="675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xmlns="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xmlns="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/>
          <a:lstStyle>
            <a:lvl1pPr>
              <a:defRPr sz="675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1892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428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353" y="177800"/>
            <a:ext cx="8052847" cy="1581881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Big Data Project </a:t>
            </a:r>
            <a:b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/>
            </a:r>
            <a:b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Tourism Trend Analysis</a:t>
            </a:r>
            <a:endParaRPr sz="3600" dirty="0">
              <a:solidFill>
                <a:schemeClr val="tx1">
                  <a:lumMod val="95000"/>
                  <a:lumOff val="5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353" y="3558771"/>
            <a:ext cx="7524946" cy="2779487"/>
          </a:xfrm>
        </p:spPr>
        <p:txBody>
          <a:bodyPr>
            <a:normAutofit/>
          </a:bodyPr>
          <a:lstStyle/>
          <a:p>
            <a:r>
              <a:rPr lang="en-IN" sz="3200" b="1" i="1" u="sng" dirty="0"/>
              <a:t>Submitted By </a:t>
            </a:r>
          </a:p>
          <a:p>
            <a:r>
              <a:rPr lang="en-IN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Sai Swaroop G24AI1026</a:t>
            </a:r>
          </a:p>
          <a:p>
            <a:r>
              <a:rPr lang="en-IN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Mugundhan B G24AI1051</a:t>
            </a:r>
          </a:p>
          <a:p>
            <a:r>
              <a:rPr lang="en-IN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Rodda Sree Charan Reddy </a:t>
            </a:r>
            <a:r>
              <a:rPr lang="en-IN" sz="1600" u="sng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G24AI1095 </a:t>
            </a:r>
          </a:p>
          <a:p>
            <a:endParaRPr lang="en-IN" sz="16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2600" b="1" u="sng" dirty="0">
                <a:solidFill>
                  <a:schemeClr val="tx1"/>
                </a:solidFill>
              </a:rPr>
              <a:t>Indian Institute of Technology Jodhpur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92D34-2491-4549-E799-4E7B6D63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 to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1FAAE0-EEE1-9913-55B7-132CBE8D6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676641"/>
            <a:ext cx="8482280" cy="43516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project focuses on analyzing large-scale geo-tagged tourism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aim is to uncover tourism trends, seasonal patterns, and emerging hotspots.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 leveraged JSON from Indian Tourism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Built a cloud-native big data pipeline and interactive dashboards.</a:t>
            </a:r>
          </a:p>
        </p:txBody>
      </p:sp>
    </p:spTree>
    <p:extLst>
      <p:ext uri="{BB962C8B-B14F-4D97-AF65-F5344CB8AC3E}">
        <p14:creationId xmlns:p14="http://schemas.microsoft.com/office/powerpoint/2010/main" xmlns="" val="209204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64065B-E810-9A64-EE48-BB6D018B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0CE2AE-6346-9A70-FD11-EF1DC6C8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123CBB-84C4-5E94-84F2-7A1BAA3C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778240"/>
            <a:ext cx="8482280" cy="312395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Tourism boards lack real-time data on visitor trends..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Traditional methods fail to capture fast-changing tourist behavior.</a:t>
            </a:r>
          </a:p>
          <a:p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Need for scalable, automated insights from modern data sources like social media</a:t>
            </a:r>
            <a:r>
              <a:rPr lang="en-US" sz="2000" dirty="0"/>
              <a:t>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803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308A86-FC50-7D92-76C1-C4481B5E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4E970C-9063-7377-1516-16FA2E56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5067EF-4E9D-553D-A2B0-580DC796D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439574"/>
            <a:ext cx="8482280" cy="43516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Collect tourism-related data from open sources &amp; mock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Process and clean data using </a:t>
            </a:r>
            <a:r>
              <a:rPr lang="en-US" sz="2000" dirty="0" err="1"/>
              <a:t>PySpark</a:t>
            </a:r>
            <a:r>
              <a:rPr lang="en-US" sz="2000" dirty="0"/>
              <a:t> &amp; Databricks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pipeline on Azure (ADF + Event Hub + Data Lake)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 analytics (monthly trends, state-wise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interactive dashboards using Power BI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231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17655B-5EA5-BE74-D76F-C3B2FE0C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348D2A-6E15-76B0-D93C-9B638B27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92D4C3-E5BB-0D4A-A41A-EA97AB80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718974"/>
            <a:ext cx="8482280" cy="43516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Azure Services: Event Hub, ADF, Blob Storage, Data Lake Gen2, Databricks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Data Processing: </a:t>
            </a:r>
            <a:r>
              <a:rPr lang="en-IN" sz="2000" dirty="0" err="1"/>
              <a:t>PySpark</a:t>
            </a:r>
            <a:r>
              <a:rPr lang="en-IN" sz="2000" dirty="0"/>
              <a:t>, 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Visualization: Power BI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Dataset: JSON from Indian Tourism sources</a:t>
            </a:r>
          </a:p>
        </p:txBody>
      </p:sp>
    </p:spTree>
    <p:extLst>
      <p:ext uri="{BB962C8B-B14F-4D97-AF65-F5344CB8AC3E}">
        <p14:creationId xmlns:p14="http://schemas.microsoft.com/office/powerpoint/2010/main" xmlns="" val="89097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86F973-D3A8-3876-1E66-FAD274E0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B3C248-C62F-20F7-B036-DFCCCD13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Exploration and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42D464-A8A8-1B47-FDF2-43E11D8E8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515774"/>
            <a:ext cx="8482280" cy="43516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Null checks, type corrections, time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Duplicate removals, activity-based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Key Feature Engineering: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Extracting year/month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Categorizing into tourism seasons (Winter, Summer, Monsoon)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23664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EE0B80-DB57-5500-74CD-12776CB0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E58DC1-9E57-EEEF-D992-95799753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DE7D21-C26D-1331-8E36-0A5D647C5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498721"/>
            <a:ext cx="3944147" cy="43516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Monthly tourism trend: Clear peaks in December and May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Top visited states: Agra, Delhi, Mumba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Activity preferences: Sightseeing, Shopping, Religious visits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6B5C9B1-F931-18C3-2899-5FE2D1BE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367062"/>
            <a:ext cx="4859867" cy="399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3808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9FD96F-237F-F177-7586-E03802EF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86C527-2E7D-A5AB-1842-8E8CD3CE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Exploratory Data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392519F9-29C9-9102-50CC-967C9F66F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247" y="1215249"/>
            <a:ext cx="5963505" cy="271328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CDED5D4-D9E3-79E0-998E-27015B234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205" y="3928534"/>
            <a:ext cx="6155868" cy="281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163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524973-FE21-1DDE-A3BF-2CE4F79C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927E56-1C0D-CC0F-0AF2-EB62D4D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1A05D5-C834-EFEC-946B-CD0F5061C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482027"/>
            <a:ext cx="3944147" cy="435162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Clustering of coordinates using </a:t>
            </a:r>
            <a:r>
              <a:rPr lang="en-US" sz="2000" dirty="0" err="1"/>
              <a:t>KMeans</a:t>
            </a:r>
            <a:r>
              <a:rPr lang="en-US" sz="2000" dirty="0"/>
              <a:t> (</a:t>
            </a:r>
            <a:r>
              <a:rPr lang="en-US" sz="2000" dirty="0" err="1"/>
              <a:t>PySpark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Region-wise heatmap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Identifying popular tourist hubs from coordinate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A1B60A8-6A6C-D3ED-DE10-BE1DAE5DE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32891"/>
            <a:ext cx="4800599" cy="399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2554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28BB3C-442F-03C0-B671-36B79FFD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F600E5-640A-39AB-6823-415E19F7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Exploratory Data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42FB7B4-6232-B9DA-29CD-BFF256393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88117"/>
            <a:ext cx="4775200" cy="19084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79F2300-E916-1A2A-4504-AF450B3E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490" y="1713149"/>
            <a:ext cx="4536509" cy="1963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5A9F31B-BCE7-0280-686E-71F74C989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1" y="4078812"/>
            <a:ext cx="4030134" cy="23507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EE25FF74-074F-C6F2-F3CC-6AA61426A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67" y="4109594"/>
            <a:ext cx="4030134" cy="232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6543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034CD3-7A51-C3A5-3E98-CFDC1B80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6F2AE5-FE19-1ACA-2E75-1A194708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Azure 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0EB210-8EF7-41AE-5066-39B6743ED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769533"/>
            <a:ext cx="8482280" cy="478366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Step 1: Web Activity – Trigger tourism API fetch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Step 2: Store JSON in Azure Blob / Data Lake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Step 3: Databricks notebook – Transform data using </a:t>
            </a:r>
            <a:r>
              <a:rPr lang="en-US" sz="2000" dirty="0" err="1"/>
              <a:t>PySpark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Step 4: Store back into refined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Step 5: Power BI dashboard connected to refined zone</a:t>
            </a:r>
          </a:p>
        </p:txBody>
      </p:sp>
    </p:spTree>
    <p:extLst>
      <p:ext uri="{BB962C8B-B14F-4D97-AF65-F5344CB8AC3E}">
        <p14:creationId xmlns:p14="http://schemas.microsoft.com/office/powerpoint/2010/main" xmlns="" val="3015102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4D0E34-13C7-77FD-FBAC-331DE3A6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0864C2-1DEC-58C6-D347-4D454C3C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8467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Azure Data Factory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BF21AA-7893-D09A-A76B-42A6E1E6C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982134"/>
            <a:ext cx="7821880" cy="298026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Multiple pipelines: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Source pipeline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Databricks trigger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Email notification on failure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Parameters used: filenames, date ranges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C9E920A-A837-C115-5B37-63DEC138A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7" y="3531886"/>
            <a:ext cx="8322733" cy="311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43830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8307F6E-4CA5-17F0-D625-4A1C53B2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5783F2-1ECE-05F1-7943-3F0BCC92B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Databricks Notebook &amp; Code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BE91EB-D910-3F17-AD41-75D13ACE4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659467"/>
            <a:ext cx="8482280" cy="33189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PySpark</a:t>
            </a:r>
            <a:r>
              <a:rPr lang="en-IN" sz="2000" dirty="0"/>
              <a:t> operations: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Read JSON from lake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Perform feature extraction &amp; transformations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Save cleaned data as CSV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Notebook executed from ADF pipeline</a:t>
            </a:r>
          </a:p>
        </p:txBody>
      </p:sp>
    </p:spTree>
    <p:extLst>
      <p:ext uri="{BB962C8B-B14F-4D97-AF65-F5344CB8AC3E}">
        <p14:creationId xmlns:p14="http://schemas.microsoft.com/office/powerpoint/2010/main" xmlns="" val="2376600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91A2D0-72E0-3009-0AD3-613D1F76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EB0ED8-8A3C-C606-A704-52B729FF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304800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Power BI Dashboard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8B696A-05B1-20FD-CACC-3CBBA0C51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9635"/>
            <a:ext cx="5459680" cy="508000"/>
          </a:xfrm>
        </p:spPr>
        <p:txBody>
          <a:bodyPr>
            <a:normAutofit/>
          </a:bodyPr>
          <a:lstStyle/>
          <a:p>
            <a:r>
              <a:rPr lang="en-US" sz="1600" b="1" dirty="0"/>
              <a:t>Page 1</a:t>
            </a:r>
            <a:r>
              <a:rPr lang="en-US" sz="1600" dirty="0"/>
              <a:t>: Overview of tourists by year and month</a:t>
            </a:r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667708F5-81ED-BA62-DCA8-BA3C4F98A6ED}"/>
              </a:ext>
            </a:extLst>
          </p:cNvPr>
          <p:cNvSpPr txBox="1">
            <a:spLocks/>
          </p:cNvSpPr>
          <p:nvPr/>
        </p:nvSpPr>
        <p:spPr>
          <a:xfrm>
            <a:off x="4699659" y="1274233"/>
            <a:ext cx="5459680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Page 2</a:t>
            </a:r>
            <a:r>
              <a:rPr lang="en-US" sz="1600" dirty="0"/>
              <a:t>: Activity and region-level analysis</a:t>
            </a: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50C4511-1CE4-D47E-9068-5EFD9237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509" y="1769535"/>
            <a:ext cx="4215081" cy="4936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34491CA-E066-D722-4E56-51B44922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10" y="1794934"/>
            <a:ext cx="4590249" cy="483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8450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290E8D-B6E0-BB5C-F6F0-0C2CD85F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5AC903-878E-6F14-A8B3-5189F23B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93133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C47AB4-63D9-44E8-905A-4F415B0B2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860" y="846666"/>
            <a:ext cx="8482280" cy="27347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Simulated data lacked consistency in timestamps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Geo-coordinates required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Power BI limited to flat structures, requiring data reshaping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E80E9300-CDB7-527B-915F-CEC7C17D46D4}"/>
              </a:ext>
            </a:extLst>
          </p:cNvPr>
          <p:cNvSpPr txBox="1">
            <a:spLocks/>
          </p:cNvSpPr>
          <p:nvPr/>
        </p:nvSpPr>
        <p:spPr>
          <a:xfrm>
            <a:off x="399253" y="3420534"/>
            <a:ext cx="8160546" cy="5757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cap="all" spc="113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Outcomes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F7ABDEBD-066D-00E1-7626-567D2B0BC594}"/>
              </a:ext>
            </a:extLst>
          </p:cNvPr>
          <p:cNvSpPr txBox="1">
            <a:spLocks/>
          </p:cNvSpPr>
          <p:nvPr/>
        </p:nvSpPr>
        <p:spPr>
          <a:xfrm>
            <a:off x="330860" y="4030133"/>
            <a:ext cx="8482280" cy="2734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Built a cloud-based big data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Performed end-to-end EDA and visualization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Created an interactive and insightful tourism dashboard</a:t>
            </a:r>
          </a:p>
        </p:txBody>
      </p:sp>
    </p:spTree>
    <p:extLst>
      <p:ext uri="{BB962C8B-B14F-4D97-AF65-F5344CB8AC3E}">
        <p14:creationId xmlns:p14="http://schemas.microsoft.com/office/powerpoint/2010/main" xmlns="" val="4081240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575E64-0A52-A14C-1EDD-F22EA4C2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42912E-3A3E-C8DC-532E-BECA7C2A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53" y="135466"/>
            <a:ext cx="8160546" cy="75353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9EA288-07EA-234F-94FB-2227E3125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53" y="1549399"/>
            <a:ext cx="8482280" cy="27347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real-time APIs like Twitter (Event Hub + Stream Analytics)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 sentiment analysis on tourist reviews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Integrate Power BI Embedded into websites</a:t>
            </a:r>
          </a:p>
        </p:txBody>
      </p:sp>
    </p:spTree>
    <p:extLst>
      <p:ext uri="{BB962C8B-B14F-4D97-AF65-F5344CB8AC3E}">
        <p14:creationId xmlns:p14="http://schemas.microsoft.com/office/powerpoint/2010/main" xmlns="" val="3439365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9F2292-39A5-1B9F-5D02-8504303A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BF15D-D791-B9A6-E044-3703ED61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93" y="59267"/>
            <a:ext cx="8669867" cy="821266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500A7E9F-6B1D-E191-FDC7-FC4BD5FCBD73}"/>
              </a:ext>
            </a:extLst>
          </p:cNvPr>
          <p:cNvSpPr txBox="1">
            <a:spLocks/>
          </p:cNvSpPr>
          <p:nvPr/>
        </p:nvSpPr>
        <p:spPr>
          <a:xfrm>
            <a:off x="127000" y="5232399"/>
            <a:ext cx="8890000" cy="8212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 cap="all" spc="113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0B5EB64A-7E53-3A4A-0DEB-7B35F73F3AEA}"/>
              </a:ext>
            </a:extLst>
          </p:cNvPr>
          <p:cNvSpPr txBox="1">
            <a:spLocks/>
          </p:cNvSpPr>
          <p:nvPr/>
        </p:nvSpPr>
        <p:spPr>
          <a:xfrm>
            <a:off x="271593" y="1151465"/>
            <a:ext cx="8482280" cy="420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Successfully demonstrated end-to-end tourism analytics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Leveraged Azure &amp; Power BI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actionable insights for tourism </a:t>
            </a:r>
            <a:r>
              <a:rPr lang="en-US" sz="2000" dirty="0" smtClean="0"/>
              <a:t>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/>
            <a:r>
              <a:rPr lang="en-IN" sz="1400" i="1" u="sng" dirty="0" smtClean="0">
                <a:solidFill>
                  <a:srgbClr val="0070C0"/>
                </a:solidFill>
              </a:rPr>
              <a:t>Git  </a:t>
            </a:r>
            <a:r>
              <a:rPr lang="en-IN" sz="1400" i="1" u="sng" dirty="0" smtClean="0">
                <a:solidFill>
                  <a:srgbClr val="0070C0"/>
                </a:solidFill>
              </a:rPr>
              <a:t>:https://github.com/saiswaroopkakarla/Tourism-Trend-Analysis.git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970155582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M56180624 Minimalist light sales pitch_Win32_v3" id="{6E94D4DF-24E6-4758-8701-2C20AC2BF2DD}" vid="{D9C778EE-A573-4D68-89BA-A3DB5F810E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281</TotalTime>
  <Words>491</Words>
  <Application>Microsoft Office PowerPoint</Application>
  <PresentationFormat>On-screen Show (4:3)</PresentationFormat>
  <Paragraphs>114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Monoline</vt:lpstr>
      <vt:lpstr>Big Data Project   Tourism Trend Analysis</vt:lpstr>
      <vt:lpstr>Introduction to the Project</vt:lpstr>
      <vt:lpstr>Problem Statement</vt:lpstr>
      <vt:lpstr>Objectives</vt:lpstr>
      <vt:lpstr>Technology Stack</vt:lpstr>
      <vt:lpstr>Data Exploration and Cleaning</vt:lpstr>
      <vt:lpstr>Exploratory Data Analysis</vt:lpstr>
      <vt:lpstr>Exploratory Data Analysis</vt:lpstr>
      <vt:lpstr>Exploratory Data Analysis</vt:lpstr>
      <vt:lpstr>Exploratory Data Analysis</vt:lpstr>
      <vt:lpstr>Azure Pipeline Architecture</vt:lpstr>
      <vt:lpstr>Azure Data Factory Implementation</vt:lpstr>
      <vt:lpstr>Databricks Notebook &amp; Code Logic</vt:lpstr>
      <vt:lpstr>Power BI Dashboard – Overview</vt:lpstr>
      <vt:lpstr>Challenges Faced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Project   Tourism Trend Analysis</dc:title>
  <dc:subject/>
  <dc:creator>mugundhan b</dc:creator>
  <cp:keywords/>
  <dc:description>generated using python-pptx</dc:description>
  <cp:lastModifiedBy>K Sai swaroop</cp:lastModifiedBy>
  <cp:revision>31</cp:revision>
  <dcterms:created xsi:type="dcterms:W3CDTF">2013-01-27T09:14:16Z</dcterms:created>
  <dcterms:modified xsi:type="dcterms:W3CDTF">2025-07-25T16:52:57Z</dcterms:modified>
  <cp:category/>
</cp:coreProperties>
</file>